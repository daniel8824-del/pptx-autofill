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6"/>
  </p:notesMasterIdLst>
  <p:handoutMasterIdLst>
    <p:handoutMasterId r:id="rId7"/>
  </p:handoutMasterIdLst>
  <p:sldIdLst>
    <p:sldId id="1068" r:id="rId2"/>
    <p:sldId id="1069" r:id="rId3"/>
    <p:sldId id="1070" r:id="rId4"/>
    <p:sldId id="107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3E9"/>
    <a:srgbClr val="8892AA"/>
    <a:srgbClr val="04306C"/>
    <a:srgbClr val="F1F3F8"/>
    <a:srgbClr val="5A6580"/>
    <a:srgbClr val="B5C6E1"/>
    <a:srgbClr val="EA5705"/>
    <a:srgbClr val="C3C8D4"/>
    <a:srgbClr val="EBEDF1"/>
    <a:srgbClr val="005A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9" autoAdjust="0"/>
    <p:restoredTop sz="97280" autoAdjust="0"/>
  </p:normalViewPr>
  <p:slideViewPr>
    <p:cSldViewPr showGuides="1">
      <p:cViewPr varScale="1">
        <p:scale>
          <a:sx n="99" d="100"/>
          <a:sy n="99" d="100"/>
        </p:scale>
        <p:origin x="1020" y="30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4C038-9956-424C-8E5C-E8F87A7F2330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E8F919-AE55-473F-9143-0AE49254DF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583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A61FD196-5102-4D71-A60E-C93C33CBAB48}" type="datetimeFigureOut">
              <a:rPr lang="ko-KR" altLang="en-US" smtClean="0"/>
              <a:pPr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삼성긴고딕 Regular" panose="020B0600000101010101" pitchFamily="50" charset="-127"/>
                <a:ea typeface="삼성긴고딕 Regular" panose="020B0600000101010101" pitchFamily="50" charset="-127"/>
              </a:defRPr>
            </a:lvl1pPr>
          </a:lstStyle>
          <a:p>
            <a:fld id="{EAD1F094-6C92-4D98-ABF0-7CEC175FDE0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028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삼성긴고딕 Regular" panose="020B0600000101010101" pitchFamily="50" charset="-127"/>
        <a:ea typeface="삼성긴고딕 Regular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FB2D-7A1E-FAA0-F617-AD57FC9B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DDFE7A-0F3A-217E-6603-2E3CE735B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5F1027-B69E-5819-781C-35785104C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53ECBD-645A-6DEC-6DAF-50ADBA261B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8C28B-15AA-4F8A-B7AF-F817F5AD0C3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147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4D2A-496F-5CB8-8B5F-98F7ED079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D2B39A-D2F0-516C-68C4-7FDA92F82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03A5E5-77BE-77E6-6561-F380D7446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B1F059-DD7A-6189-146F-605D82A40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8C28B-15AA-4F8A-B7AF-F817F5AD0C3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155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300B-B294-9473-294B-072564297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D57380-5AF3-297B-2288-34F5CB006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ECF62B-9E95-C7D8-C9C6-A4E8C986B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222213-DFB5-9319-F50C-D06521D7E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8C28B-15AA-4F8A-B7AF-F817F5AD0C3A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726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실내, 텍스트, 벽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36E9C3-412C-8936-3FAA-E83288CC9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0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9F2655E-BA06-42C9-89F4-B24971E8D281}"/>
              </a:ext>
            </a:extLst>
          </p:cNvPr>
          <p:cNvSpPr/>
          <p:nvPr userDrawn="1"/>
        </p:nvSpPr>
        <p:spPr>
          <a:xfrm>
            <a:off x="9483028" y="6575336"/>
            <a:ext cx="2613857" cy="215444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 latinLnBrk="0">
              <a:spcBef>
                <a:spcPts val="200"/>
              </a:spcBef>
              <a:defRPr/>
            </a:pP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Copyright by </a:t>
            </a:r>
            <a:r>
              <a:rPr lang="en-US" altLang="ko-KR" sz="800" kern="0" dirty="0" err="1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Multicampus</a:t>
            </a:r>
            <a:r>
              <a:rPr lang="en-US" altLang="ko-KR" sz="800" kern="0" dirty="0">
                <a:gradFill>
                  <a:gsLst>
                    <a:gs pos="0">
                      <a:srgbClr val="8892AA"/>
                    </a:gs>
                    <a:gs pos="100000">
                      <a:srgbClr val="8892AA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85176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실내, 텍스트, 벽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CA4951-60B7-2397-F81E-34035826B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7128"/>
          </a:xfrm>
          <a:prstGeom prst="rect">
            <a:avLst/>
          </a:prstGeom>
        </p:spPr>
      </p:pic>
      <p:sp>
        <p:nvSpPr>
          <p:cNvPr id="6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9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3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 Light" panose="020B0600000101010101" pitchFamily="50" charset="-127"/>
                <a:ea typeface="나눔스퀘어 Light" panose="020B0600000101010101" pitchFamily="50" charset="-127"/>
                <a:cs typeface="Arial" panose="020B0604020202020204" pitchFamily="34" charset="0"/>
              </a:rPr>
              <a:pPr marL="0" marR="0" lvl="0" indent="0" algn="ctr" defTabSz="897332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 Light" panose="020B0600000101010101" pitchFamily="50" charset="-127"/>
              <a:ea typeface="나눔스퀘어 Light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3732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83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실내, 텍스트, 벽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B507C0-DF12-1710-7CE7-B7EFA5CEF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4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67128"/>
          </a:xfrm>
          <a:prstGeom prst="rect">
            <a:avLst/>
          </a:prstGeom>
        </p:spPr>
      </p:pic>
      <p:sp>
        <p:nvSpPr>
          <p:cNvPr id="6" name="Rectangle 17">
            <a:extLst>
              <a:ext uri="{FF2B5EF4-FFF2-40B4-BE49-F238E27FC236}">
                <a16:creationId xmlns:a16="http://schemas.microsoft.com/office/drawing/2014/main" id="{E0921147-30D6-A2BE-E4AF-A9F418AF05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19961" y="6606143"/>
            <a:ext cx="352075" cy="153835"/>
          </a:xfrm>
          <a:prstGeom prst="rect">
            <a:avLst/>
          </a:prstGeom>
          <a:noFill/>
          <a:effectLst/>
        </p:spPr>
        <p:txBody>
          <a:bodyPr vert="horz" wrap="none" lIns="0" tIns="0" rIns="0" bIns="0" rtlCol="0" anchor="ctr">
            <a:noAutofit/>
          </a:bodyPr>
          <a:lstStyle/>
          <a:p>
            <a:pPr marL="0" marR="0" lvl="0" indent="0" algn="ctr" defTabSz="89737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C810E-F784-4439-A0DB-2C7343AB6795}" type="slidenum">
              <a:rPr kumimoji="0" lang="en-US" altLang="ko-KR" sz="801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gradFill>
                  <a:gsLst>
                    <a:gs pos="0">
                      <a:schemeClr val="bg1">
                        <a:lumMod val="50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lin ang="0" scaled="1"/>
                </a:gradFill>
                <a:effectLst/>
                <a:uLnTx/>
                <a:uFillTx/>
                <a:latin typeface="나눔스퀘어 Light" panose="020B0600000101010101" pitchFamily="50" charset="-127"/>
                <a:ea typeface="나눔스퀘어 Light" panose="020B0600000101010101" pitchFamily="50" charset="-127"/>
                <a:cs typeface="Arial" panose="020B0604020202020204" pitchFamily="34" charset="0"/>
              </a:rPr>
              <a:pPr marL="0" marR="0" lvl="0" indent="0" algn="ctr" defTabSz="897376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801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lin ang="0" scaled="1"/>
              </a:gradFill>
              <a:effectLst/>
              <a:uLnTx/>
              <a:uFillTx/>
              <a:latin typeface="나눔스퀘어 Light" panose="020B0600000101010101" pitchFamily="50" charset="-127"/>
              <a:ea typeface="나눔스퀘어 Light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3" name="텍스트 개체 틀 28">
            <a:extLst>
              <a:ext uri="{FF2B5EF4-FFF2-40B4-BE49-F238E27FC236}">
                <a16:creationId xmlns:a16="http://schemas.microsoft.com/office/drawing/2014/main" id="{03E050E6-FFAE-4E0A-9F46-C15081F857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989" y="137319"/>
            <a:ext cx="10523415" cy="514922"/>
          </a:xfrm>
          <a:prstGeom prst="rect">
            <a:avLst/>
          </a:prstGeom>
        </p:spPr>
        <p:txBody>
          <a:bodyPr lIns="0" rIns="0" anchor="ctr" anchorCtr="0"/>
          <a:lstStyle>
            <a:lvl1pPr marL="0" indent="0" algn="l" defTabSz="914423" rtl="0" eaLnBrk="0" fontAlgn="base" latinLnBrk="1" hangingPunct="0">
              <a:spcBef>
                <a:spcPct val="0"/>
              </a:spcBef>
              <a:spcAft>
                <a:spcPct val="0"/>
              </a:spcAft>
              <a:buNone/>
              <a:defRPr lang="ko-KR" altLang="en-US" sz="2200" b="0" kern="1200" spc="-5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 Semilight" panose="020B0502040204020203" pitchFamily="50" charset="-127"/>
              </a:defRPr>
            </a:lvl1pPr>
            <a:lvl2pPr marL="457212" indent="0">
              <a:buNone/>
              <a:defRPr/>
            </a:lvl2pPr>
            <a:lvl3pPr marL="914423" indent="0">
              <a:buNone/>
              <a:defRPr/>
            </a:lvl3pPr>
            <a:lvl4pPr marL="1371634" indent="0">
              <a:buNone/>
              <a:defRPr/>
            </a:lvl4pPr>
            <a:lvl5pPr marL="1828846" indent="0">
              <a:buNone/>
              <a:defRPr/>
            </a:lvl5pPr>
          </a:lstStyle>
          <a:p>
            <a:pPr eaLnBrk="0" fontAlgn="base" hangingPunct="0">
              <a:spcAft>
                <a:spcPct val="0"/>
              </a:spcAft>
            </a:pPr>
            <a:r>
              <a:rPr lang="en-US" altLang="ko-KR" dirty="0"/>
              <a:t>1. </a:t>
            </a:r>
            <a:r>
              <a:rPr lang="ko-KR" altLang="en-US" dirty="0"/>
              <a:t>타이틀 입력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BDDED35-B48F-451A-9BA4-B101EEF70586}"/>
              </a:ext>
            </a:extLst>
          </p:cNvPr>
          <p:cNvCxnSpPr>
            <a:cxnSpLocks/>
          </p:cNvCxnSpPr>
          <p:nvPr userDrawn="1"/>
        </p:nvCxnSpPr>
        <p:spPr>
          <a:xfrm flipH="1">
            <a:off x="423985" y="836712"/>
            <a:ext cx="11341295" cy="0"/>
          </a:xfrm>
          <a:prstGeom prst="line">
            <a:avLst/>
          </a:prstGeom>
          <a:ln w="6350">
            <a:solidFill>
              <a:srgbClr val="75819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9863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46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700" r:id="rId3"/>
    <p:sldLayoutId id="2147483673" r:id="rId4"/>
    <p:sldLayoutId id="2147483701" r:id="rId5"/>
  </p:sldLayoutIdLst>
  <p:txStyles>
    <p:titleStyle>
      <a:lvl1pPr algn="ctr" defTabSz="914401" rtl="0" eaLnBrk="1" latinLnBrk="1" hangingPunct="1"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9" indent="-285750" algn="l" defTabSz="914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1" indent="-228601" algn="l" defTabSz="914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1" algn="l" defTabSz="914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2" indent="-228601" algn="l" defTabSz="914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1" indent="-228601" algn="l" defTabSz="914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1" algn="l" defTabSz="914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1" indent="-228601" algn="l" defTabSz="914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2" indent="-228601" algn="l" defTabSz="914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2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1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1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2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1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99" algn="l" defTabSz="91440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65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D14C-29ED-A5F2-8B49-5B7F054B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D3AD41FB-F0A9-C775-6DCA-207C0EA6B672}"/>
              </a:ext>
            </a:extLst>
          </p:cNvPr>
          <p:cNvSpPr/>
          <p:nvPr/>
        </p:nvSpPr>
        <p:spPr>
          <a:xfrm>
            <a:off x="1343472" y="6005749"/>
            <a:ext cx="9505056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 defTabSz="457178" latinLnBrk="0">
              <a:defRPr/>
            </a:pPr>
            <a:r>
              <a:rPr lang="en-US" altLang="ko-KR" sz="1200" b="1" spc="51">
                <a:latin typeface="나눔스퀘어 Light" panose="020B0600000101010101" pitchFamily="50" charset="-127"/>
                <a:ea typeface="나눔스퀘어 Light" panose="020B0600000101010101" pitchFamily="50" charset="-127"/>
                <a:cs typeface="맑은 고딕 Semilight" panose="020B0502040204020203" pitchFamily="50" charset="-127"/>
              </a:rPr>
              <a:t>2026.03</a:t>
            </a:r>
            <a:endParaRPr lang="en-US" altLang="ko-KR" sz="1200" b="1" spc="-100" dirty="0">
              <a:latin typeface="나눔스퀘어 Light" panose="020B0600000101010101" pitchFamily="50" charset="-127"/>
              <a:ea typeface="나눔스퀘어 Light" panose="020B0600000101010101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BD3BD6-E49C-356A-9C85-B4EDB8DB66B0}"/>
              </a:ext>
            </a:extLst>
          </p:cNvPr>
          <p:cNvSpPr txBox="1"/>
          <p:nvPr/>
        </p:nvSpPr>
        <p:spPr>
          <a:xfrm>
            <a:off x="1343473" y="2509039"/>
            <a:ext cx="9505055" cy="126188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 defTabSz="457202" latinLnBrk="0">
              <a:defRPr/>
            </a:pPr>
            <a:r>
              <a:rPr lang="ko-KR" altLang="en-US" sz="2800" b="1" spc="-200">
                <a:solidFill>
                  <a:schemeClr val="tx1">
                    <a:lumMod val="50000"/>
                    <a:lumOff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맑은 고딕 Semilight" panose="020B0502040204020203" pitchFamily="50" charset="-127"/>
              </a:rPr>
              <a:t>템플릿스튜디오 임직원을 위한</a:t>
            </a:r>
            <a:endParaRPr lang="en-US" altLang="ko-KR" sz="2800" b="1" spc="-200">
              <a:solidFill>
                <a:schemeClr val="tx1">
                  <a:lumMod val="50000"/>
                  <a:lumOff val="50000"/>
                </a:schemeClr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맑은 고딕 Semilight" panose="020B0502040204020203" pitchFamily="50" charset="-127"/>
            </a:endParaRPr>
          </a:p>
          <a:p>
            <a:pPr algn="ctr" defTabSz="457202" latinLnBrk="0">
              <a:defRPr/>
            </a:pPr>
            <a:r>
              <a:rPr lang="ko-KR" altLang="en-US" sz="4800" b="1" spc="-200">
                <a:latin typeface="나눔스퀘어 Light" panose="020B0600000101010101" pitchFamily="50" charset="-127"/>
                <a:ea typeface="나눔스퀘어 Light" panose="020B0600000101010101" pitchFamily="50" charset="-127"/>
                <a:cs typeface="맑은 고딕 Semilight" panose="020B0502040204020203" pitchFamily="50" charset="-127"/>
              </a:rPr>
              <a:t>생성형 </a:t>
            </a:r>
            <a:r>
              <a:rPr lang="en-US" altLang="ko-KR" sz="4800" b="1" spc="-200">
                <a:latin typeface="나눔스퀘어 Light" panose="020B0600000101010101" pitchFamily="50" charset="-127"/>
                <a:ea typeface="나눔스퀘어 Light" panose="020B0600000101010101" pitchFamily="50" charset="-127"/>
                <a:cs typeface="맑은 고딕 Semilight" panose="020B0502040204020203" pitchFamily="50" charset="-127"/>
              </a:rPr>
              <a:t>AI</a:t>
            </a:r>
            <a:r>
              <a:rPr lang="ko-KR" altLang="en-US" sz="4800" b="1" spc="-200">
                <a:latin typeface="나눔스퀘어 Light" panose="020B0600000101010101" pitchFamily="50" charset="-127"/>
                <a:ea typeface="나눔스퀘어 Light" panose="020B0600000101010101" pitchFamily="50" charset="-127"/>
                <a:cs typeface="맑은 고딕 Semilight" panose="020B0502040204020203" pitchFamily="50" charset="-127"/>
              </a:rPr>
              <a:t> 활용 교육</a:t>
            </a:r>
            <a:endParaRPr lang="ko-KR" altLang="en-US" sz="4800" b="1" spc="-200" dirty="0">
              <a:latin typeface="나눔스퀘어 Light" panose="020B0600000101010101" pitchFamily="50" charset="-127"/>
              <a:ea typeface="나눔스퀘어 Light" panose="020B0600000101010101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14161FA-80C7-0778-D982-B82091FA63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3284" t="20529" r="48561" b="24444"/>
          <a:stretch/>
        </p:blipFill>
        <p:spPr>
          <a:xfrm>
            <a:off x="7855018" y="1196752"/>
            <a:ext cx="2788235" cy="377370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FF316BA-4E53-B60A-24A0-7B49EDF4AE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l="23284" t="20529" r="48561" b="24444"/>
          <a:stretch/>
        </p:blipFill>
        <p:spPr>
          <a:xfrm rot="10800000">
            <a:off x="1374293" y="1253126"/>
            <a:ext cx="2788235" cy="377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9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5C805-49D4-3EF0-9DE4-A20891E2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D4351FF-E9E1-64A3-3C00-DE985E4BAC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989" y="188640"/>
            <a:ext cx="10523415" cy="514922"/>
          </a:xfrm>
        </p:spPr>
        <p:txBody>
          <a:bodyPr/>
          <a:lstStyle/>
          <a:p>
            <a:r>
              <a:rPr lang="en-US" altLang="ko-KR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1. </a:t>
            </a:r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과정 개요</a:t>
            </a:r>
            <a:endParaRPr lang="ko-KR" altLang="en-US" sz="2400" dirty="0">
              <a:solidFill>
                <a:srgbClr val="FF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4A430624-8939-D35E-EFC2-0C012CA6E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604913"/>
              </p:ext>
            </p:extLst>
          </p:nvPr>
        </p:nvGraphicFramePr>
        <p:xfrm>
          <a:off x="407988" y="1689033"/>
          <a:ext cx="11317480" cy="4308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0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spc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교육 일정</a:t>
                      </a:r>
                      <a:endParaRPr lang="en-US" altLang="ko-KR" sz="1200" b="1" i="0" u="none" strike="noStrike" kern="1200" spc="0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43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072436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8697B4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텍스트를 입력하세요</a:t>
                      </a:r>
                      <a:r>
                        <a:rPr lang="en-US" altLang="ko-KR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en-US" altLang="ko-KR" sz="1100" b="1" kern="1200" spc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37160" marR="137160" marT="137160" marB="13716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43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750325"/>
                  </a:ext>
                </a:extLst>
              </a:tr>
              <a:tr h="42101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spc="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교육 방식</a:t>
                      </a:r>
                      <a:endParaRPr lang="en-US" altLang="ko-KR" sz="1200" b="1" i="0" u="none" strike="noStrike" kern="1200" spc="0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072436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8697B4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텍스트를 입력하세요</a:t>
                      </a:r>
                      <a:r>
                        <a:rPr lang="en-US" altLang="ko-KR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en-US" altLang="ko-KR" sz="1100" b="1" kern="1200" spc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37160" marR="137160" marT="137160" marB="13716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1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pc="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교육 대상</a:t>
                      </a:r>
                      <a:endParaRPr lang="en-US" altLang="ko-KR" sz="1200" b="1" i="0" u="none" strike="noStrike" kern="1200" spc="0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072436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8697B4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텍스트를 입력하세요</a:t>
                      </a:r>
                      <a:r>
                        <a:rPr lang="en-US" altLang="ko-KR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en-US" altLang="ko-KR" sz="1100" b="1" kern="1200" spc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37160" marR="137160" marT="137160" marB="13716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014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pc="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과정 소개</a:t>
                      </a:r>
                      <a:endParaRPr lang="en-US" altLang="ko-KR" sz="1200" b="1" i="0" u="none" strike="noStrike" kern="1200" spc="0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072436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8697B4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텍스트를 입력하세요</a:t>
                      </a:r>
                      <a:r>
                        <a:rPr lang="en-US" altLang="ko-KR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100" b="1" kern="1200" spc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37160" marR="137160" marT="137160" marB="13716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311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pc="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교육내용</a:t>
                      </a:r>
                      <a:endParaRPr lang="en-US" altLang="ko-KR" sz="1200" b="1" i="0" u="none" strike="noStrike" kern="1200" spc="0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97B4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 내용 </a:t>
                      </a:r>
                      <a:r>
                        <a:rPr lang="en-US" altLang="ko-KR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100" b="1" u="none" strike="noStrike" kern="1200" spc="0" baseline="0">
                        <a:ln>
                          <a:solidFill>
                            <a:schemeClr val="bg2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97B4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 내용 </a:t>
                      </a:r>
                      <a:r>
                        <a:rPr lang="en-US" altLang="ko-KR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100" b="1" u="none" strike="noStrike" kern="1200" spc="0" baseline="0">
                        <a:ln>
                          <a:solidFill>
                            <a:schemeClr val="bg2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97B4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 내용 </a:t>
                      </a:r>
                      <a:r>
                        <a:rPr lang="en-US" altLang="ko-KR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100" b="1" u="none" strike="noStrike" kern="1200" spc="0" baseline="0">
                        <a:ln>
                          <a:solidFill>
                            <a:schemeClr val="bg2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697B4"/>
                        </a:buClr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교육 내용 </a:t>
                      </a:r>
                      <a:r>
                        <a:rPr lang="en-US" altLang="ko-KR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100" b="1" u="none" strike="noStrike" kern="1200" spc="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100" b="1" u="none" strike="noStrike" kern="1200" spc="0" baseline="0">
                        <a:ln>
                          <a:solidFill>
                            <a:schemeClr val="bg2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37160" marR="137160" marT="137160" marB="13716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15534"/>
                  </a:ext>
                </a:extLst>
              </a:tr>
              <a:tr h="459467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pc="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담당</a:t>
                      </a:r>
                      <a:r>
                        <a:rPr lang="ko-KR" altLang="en-US" sz="1200" b="1" i="0" u="none" strike="noStrike" kern="1200" spc="0" baseline="0" dirty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 강사</a:t>
                      </a:r>
                      <a:endParaRPr lang="en-US" altLang="ko-KR" sz="1200" b="1" i="0" u="none" strike="noStrike" kern="1200" spc="0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072436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8697B4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강사명을 입력하세요</a:t>
                      </a:r>
                      <a:r>
                        <a:rPr lang="en-US" altLang="ko-KR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  <a:endParaRPr lang="en-US" altLang="ko-KR" sz="1100" b="1" kern="1200" spc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37160" marR="137160" marT="137160" marB="13716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086692"/>
                  </a:ext>
                </a:extLst>
              </a:tr>
              <a:tr h="453298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pc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활용 </a:t>
                      </a:r>
                      <a:r>
                        <a:rPr lang="en-US" altLang="ko-KR" sz="1200" b="1" i="0" u="none" strike="noStrike" kern="1200" spc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AI </a:t>
                      </a:r>
                      <a:r>
                        <a:rPr lang="ko-KR" altLang="en-US" sz="1200" b="1" i="0" u="none" strike="noStrike" kern="1200" spc="0">
                          <a:ln>
                            <a:solidFill>
                              <a:schemeClr val="tx1">
                                <a:lumMod val="75000"/>
                                <a:lumOff val="25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툴</a:t>
                      </a:r>
                      <a:endParaRPr lang="en-US" altLang="ko-KR" sz="1200" b="1" i="0" u="none" strike="noStrike" kern="1200" spc="0" dirty="0">
                        <a:ln>
                          <a:solidFill>
                            <a:schemeClr val="tx1">
                              <a:lumMod val="75000"/>
                              <a:lumOff val="2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43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072436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8697B4"/>
                        </a:buClr>
                        <a:buSzPct val="9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텍스트를 입력하세요</a:t>
                      </a:r>
                      <a:r>
                        <a:rPr lang="en-US" altLang="ko-KR" sz="1100" b="1" kern="1200" spc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  <a:endParaRPr lang="ko-KR" altLang="en-US" sz="1100" b="1" kern="1200" spc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137160" marR="137160" marT="137160" marB="13716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4306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0" name="내용 개체 틀 1">
            <a:extLst>
              <a:ext uri="{FF2B5EF4-FFF2-40B4-BE49-F238E27FC236}">
                <a16:creationId xmlns:a16="http://schemas.microsoft.com/office/drawing/2014/main" id="{58F69DD8-0770-EEE5-E453-C46DEC8D67FD}"/>
              </a:ext>
            </a:extLst>
          </p:cNvPr>
          <p:cNvSpPr txBox="1">
            <a:spLocks/>
          </p:cNvSpPr>
          <p:nvPr/>
        </p:nvSpPr>
        <p:spPr>
          <a:xfrm>
            <a:off x="433387" y="1080371"/>
            <a:ext cx="11292081" cy="3324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ko-KR"/>
            </a:defPPr>
            <a:lvl1pPr lvl="0" indent="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  <a:lvl2pPr marL="252000" lvl="1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3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2pPr>
            <a:lvl3pPr marL="252000" lvl="2" indent="-252000">
              <a:lnSpc>
                <a:spcPct val="110000"/>
              </a:lnSpc>
              <a:spcBef>
                <a:spcPts val="600"/>
              </a:spcBef>
              <a:buSzPct val="110000"/>
              <a:buFontTx/>
              <a:buBlip>
                <a:blip r:embed="rId4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3pPr>
            <a:lvl4pPr marL="252000" lvl="3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5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4pPr>
            <a:lvl5pPr marL="252000" lvl="4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6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5pPr>
            <a:lvl6pPr marL="252000" lvl="5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7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6pPr>
            <a:lvl7pPr marL="252000" lvl="6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8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7pPr>
            <a:lvl8pPr marL="252000" lvl="7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9"/>
              </a:buBlip>
              <a:defRPr spc="-5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8pPr>
            <a:lvl9pPr marL="252000" lvl="8" indent="-252000">
              <a:lnSpc>
                <a:spcPct val="110000"/>
              </a:lnSpc>
              <a:spcBef>
                <a:spcPts val="600"/>
              </a:spcBef>
              <a:buClr>
                <a:srgbClr val="8892AA"/>
              </a:buClr>
              <a:buSzPct val="110000"/>
              <a:buFontTx/>
              <a:buBlip>
                <a:blip r:embed="rId10"/>
              </a:buBlip>
              <a:defRPr spc="-50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9pPr>
          </a:lstStyle>
          <a:p>
            <a:pPr lvl="5">
              <a:buSzPct val="120000"/>
              <a:defRPr/>
            </a:pPr>
            <a:r>
              <a:rPr lang="ko-KR" altLang="en-US" sz="1600" dirty="0" err="1">
                <a:solidFill>
                  <a:schemeClr val="tx1"/>
                </a:solidFill>
              </a:rPr>
              <a:t>생성형</a:t>
            </a:r>
            <a:r>
              <a:rPr lang="ko-KR" altLang="en-US" sz="1600" dirty="0">
                <a:solidFill>
                  <a:schemeClr val="tx1"/>
                </a:solidFill>
              </a:rPr>
              <a:t> </a:t>
            </a:r>
            <a:r>
              <a:rPr lang="en-US" altLang="ko-KR" sz="1600" dirty="0">
                <a:solidFill>
                  <a:schemeClr val="tx1"/>
                </a:solidFill>
              </a:rPr>
              <a:t>AI </a:t>
            </a:r>
            <a:r>
              <a:rPr lang="ko-KR" altLang="en-US" sz="1600" dirty="0">
                <a:solidFill>
                  <a:schemeClr val="tx1"/>
                </a:solidFill>
              </a:rPr>
              <a:t>툴을 </a:t>
            </a:r>
            <a:r>
              <a:rPr lang="ko-KR" altLang="en-US" sz="1600">
                <a:solidFill>
                  <a:schemeClr val="tx1"/>
                </a:solidFill>
              </a:rPr>
              <a:t>활용한 실무 활용 교육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9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5816D-2643-A17A-E0A2-A8CEF0F98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D279596-9FEC-4FE1-EF78-78FB9768F1C0}"/>
              </a:ext>
            </a:extLst>
          </p:cNvPr>
          <p:cNvCxnSpPr>
            <a:cxnSpLocks/>
          </p:cNvCxnSpPr>
          <p:nvPr/>
        </p:nvCxnSpPr>
        <p:spPr>
          <a:xfrm flipH="1">
            <a:off x="423990" y="868266"/>
            <a:ext cx="11341295" cy="0"/>
          </a:xfrm>
          <a:prstGeom prst="line">
            <a:avLst/>
          </a:prstGeom>
          <a:ln w="6350">
            <a:solidFill>
              <a:srgbClr val="75819F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텍스트 개체 틀 28">
            <a:extLst>
              <a:ext uri="{FF2B5EF4-FFF2-40B4-BE49-F238E27FC236}">
                <a16:creationId xmlns:a16="http://schemas.microsoft.com/office/drawing/2014/main" id="{396421E9-9E1F-475A-358A-BBD6FB0A8E3D}"/>
              </a:ext>
            </a:extLst>
          </p:cNvPr>
          <p:cNvSpPr txBox="1">
            <a:spLocks/>
          </p:cNvSpPr>
          <p:nvPr/>
        </p:nvSpPr>
        <p:spPr>
          <a:xfrm>
            <a:off x="423994" y="188640"/>
            <a:ext cx="10523415" cy="514923"/>
          </a:xfrm>
          <a:prstGeom prst="rect">
            <a:avLst/>
          </a:prstGeom>
        </p:spPr>
        <p:txBody>
          <a:bodyPr lIns="0" rIns="0" anchor="ctr" anchorCtr="0"/>
          <a:lstStyle>
            <a:lvl1pPr marL="0" indent="0" algn="l" defTabSz="914423" rtl="0" eaLnBrk="0" fontAlgn="base" latinLnBrk="1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ko-KR" altLang="en-US" sz="2200" b="0" kern="1200" spc="-5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  <a:cs typeface="맑은 고딕 Semilight" panose="020B0502040204020203" pitchFamily="50" charset="-127"/>
              </a:defRPr>
            </a:lvl1pPr>
            <a:lvl2pPr marL="457212" indent="0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23" indent="0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34" indent="0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46" indent="0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2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2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2" algn="l" defTabSz="914446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</a:t>
            </a:r>
            <a:r>
              <a:rPr lang="en-US" altLang="ko-KR" sz="2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 </a:t>
            </a:r>
            <a:r>
              <a:rPr lang="ko-KR" altLang="en-US" sz="24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커리큘럼</a:t>
            </a:r>
            <a:endParaRPr lang="ko-KR" altLang="en-US" sz="18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1D2E54CE-CE22-F8A3-0F6F-E56653BE7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499689"/>
              </p:ext>
            </p:extLst>
          </p:nvPr>
        </p:nvGraphicFramePr>
        <p:xfrm>
          <a:off x="423990" y="1196754"/>
          <a:ext cx="11329511" cy="5040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3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7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C95DD"/>
                        </a:buClr>
                        <a:buSzTx/>
                        <a:buFont typeface="Arial"/>
                        <a:buNone/>
                        <a:tabLst>
                          <a:tab pos="60863" algn="l"/>
                          <a:tab pos="97380" algn="l"/>
                        </a:tabLst>
                        <a:defRPr/>
                      </a:pPr>
                      <a:r>
                        <a:rPr lang="ko-KR" altLang="en-US" sz="13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모듈</a:t>
                      </a: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C95DD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60863" algn="l"/>
                          <a:tab pos="97380" algn="l"/>
                        </a:tabLst>
                        <a:defRPr/>
                      </a:pPr>
                      <a:r>
                        <a:rPr lang="ko-KR" altLang="en-US" sz="13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내용</a:t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C95DD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60863" algn="l"/>
                          <a:tab pos="97380" algn="l"/>
                        </a:tabLst>
                        <a:defRPr/>
                      </a:pPr>
                      <a:r>
                        <a:rPr lang="ko-KR" altLang="en-US" sz="13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시간</a:t>
                      </a:r>
                    </a:p>
                  </a:txBody>
                  <a:tcPr marL="108000" marR="108000" marT="0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2C95DD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60863" algn="l"/>
                          <a:tab pos="97380" algn="l"/>
                        </a:tabLst>
                        <a:defRPr/>
                      </a:pPr>
                      <a:r>
                        <a:rPr lang="ko-KR" altLang="en-US" sz="1300" kern="1200" dirty="0">
                          <a:solidFill>
                            <a:schemeClr val="bg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Arial" pitchFamily="34" charset="0"/>
                        </a:rPr>
                        <a:t>방법</a:t>
                      </a: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92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523097"/>
                  </a:ext>
                </a:extLst>
              </a:tr>
              <a:tr h="1228158">
                <a:tc>
                  <a:txBody>
                    <a:bodyPr/>
                    <a:lstStyle/>
                    <a:p>
                      <a:pPr marL="0" marR="0" lvl="0" indent="180975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58AC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/>
                        <a:t>모듈</a:t>
                      </a:r>
                      <a:r>
                        <a:rPr lang="en-US" altLang="ko-KR" sz="1200" b="1"/>
                        <a:t>1</a:t>
                      </a:r>
                      <a:r>
                        <a:rPr lang="ko-KR" altLang="en-US" sz="1200" b="1"/>
                        <a:t> 제목을 입력하세요</a:t>
                      </a:r>
                      <a:r>
                        <a:rPr lang="en-US" altLang="ko-KR" sz="1200" b="1"/>
                        <a:t>.</a:t>
                      </a:r>
                      <a:endParaRPr lang="en-US" altLang="ko-KR" sz="1200" b="1" kern="1200" spc="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7898" marR="17898" marT="17901" marB="1790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맞는 교육 가이드를 입력하세요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</a:txBody>
                  <a:tcPr marL="107966" marR="17898" marT="17901" marB="1790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1H</a:t>
                      </a:r>
                      <a:endParaRPr lang="en-US" altLang="ko-KR" sz="1200" b="0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08000" marR="108000" marT="0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실습</a:t>
                      </a: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시연</a:t>
                      </a:r>
                      <a:endParaRPr lang="en-US" altLang="ko-KR" sz="1200" b="0" kern="1200" spc="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104491"/>
                  </a:ext>
                </a:extLst>
              </a:tr>
              <a:tr h="1175896">
                <a:tc>
                  <a:txBody>
                    <a:bodyPr/>
                    <a:lstStyle/>
                    <a:p>
                      <a:pPr marL="0" marR="0" lvl="0" indent="180975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58AC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/>
                        <a:t>모듈</a:t>
                      </a:r>
                      <a:r>
                        <a:rPr lang="en-US" altLang="ko-KR" sz="1200" b="1"/>
                        <a:t>2</a:t>
                      </a:r>
                      <a:r>
                        <a:rPr lang="ko-KR" altLang="en-US" sz="1200" b="1"/>
                        <a:t> 제목을 입력하세요</a:t>
                      </a:r>
                      <a:r>
                        <a:rPr lang="en-US" altLang="ko-KR" sz="1200" b="1"/>
                        <a:t>.</a:t>
                      </a:r>
                      <a:endParaRPr lang="en-US" altLang="ko-KR" sz="1200" b="1" kern="1200" spc="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7898" marR="17898" marT="17901" marB="1790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맞는 교육 가이드를 입력하세요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</a:txBody>
                  <a:tcPr marL="107966" marR="17898" marT="17901" marB="1790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1H</a:t>
                      </a:r>
                      <a:endParaRPr lang="en-US" altLang="ko-KR" sz="1200" b="0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08000" marR="108000" marT="0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실습</a:t>
                      </a: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시연</a:t>
                      </a:r>
                      <a:endParaRPr lang="en-US" altLang="ko-KR" sz="1200" b="0" kern="1200" spc="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816495"/>
                  </a:ext>
                </a:extLst>
              </a:tr>
              <a:tr h="1175896">
                <a:tc>
                  <a:txBody>
                    <a:bodyPr/>
                    <a:lstStyle/>
                    <a:p>
                      <a:pPr marL="0" marR="0" lvl="0" indent="180975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58AC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/>
                        <a:t>모듈</a:t>
                      </a:r>
                      <a:r>
                        <a:rPr lang="en-US" altLang="ko-KR" sz="1200" b="1"/>
                        <a:t>3</a:t>
                      </a:r>
                      <a:r>
                        <a:rPr lang="ko-KR" altLang="en-US" sz="1200" b="1"/>
                        <a:t> 제목을 입력하세요</a:t>
                      </a:r>
                      <a:r>
                        <a:rPr lang="en-US" altLang="ko-KR" sz="1200" b="1"/>
                        <a:t>.</a:t>
                      </a:r>
                      <a:endParaRPr lang="en-US" altLang="ko-KR" sz="1200" b="1" kern="1200" spc="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7898" marR="17898" marT="17901" marB="1790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맞는 교육 가이드를 입력하세요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</a:txBody>
                  <a:tcPr marL="107966" marR="17898" marT="17901" marB="1790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1H</a:t>
                      </a:r>
                      <a:endParaRPr lang="en-US" altLang="ko-KR" sz="1200" b="0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08000" marR="108000" marT="0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실습</a:t>
                      </a: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시연</a:t>
                      </a:r>
                      <a:endParaRPr lang="en-US" altLang="ko-KR" sz="1200" b="0" kern="1200" spc="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006081"/>
                  </a:ext>
                </a:extLst>
              </a:tr>
              <a:tr h="1175896">
                <a:tc>
                  <a:txBody>
                    <a:bodyPr/>
                    <a:lstStyle/>
                    <a:p>
                      <a:pPr marL="0" marR="0" lvl="0" indent="180975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rgbClr val="58AC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/>
                        <a:t>모듈</a:t>
                      </a:r>
                      <a:r>
                        <a:rPr lang="en-US" altLang="ko-KR" sz="1200" b="1"/>
                        <a:t>4</a:t>
                      </a:r>
                      <a:r>
                        <a:rPr lang="ko-KR" altLang="en-US" sz="1200" b="1"/>
                        <a:t> 제목을 입력하세요</a:t>
                      </a:r>
                      <a:r>
                        <a:rPr lang="en-US" altLang="ko-KR" sz="1200" b="1"/>
                        <a:t>.</a:t>
                      </a:r>
                      <a:endParaRPr lang="en-US" altLang="ko-KR" sz="1200" b="1" kern="1200" spc="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7898" marR="17898" marT="17901" marB="1790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맞는 교육 가이드를 입력하세요</a:t>
                      </a:r>
                      <a:r>
                        <a:rPr lang="en-US" altLang="ko-KR" sz="1200" b="1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 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85000"/>
                            <a:lumOff val="15000"/>
                          </a:schemeClr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모듈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의 상세 내용을 입력하세요</a:t>
                      </a:r>
                      <a:r>
                        <a:rPr lang="en-US" altLang="ko-KR" sz="1200" b="0" u="none" strike="noStrike" kern="1200" spc="-100" baseline="0">
                          <a:ln>
                            <a:solidFill>
                              <a:schemeClr val="bg2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.</a:t>
                      </a:r>
                    </a:p>
                  </a:txBody>
                  <a:tcPr marL="107966" marR="17898" marT="17901" marB="17901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1H</a:t>
                      </a:r>
                      <a:endParaRPr lang="en-US" altLang="ko-KR" sz="1200" b="0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</a:txBody>
                  <a:tcPr marL="108000" marR="108000" marT="0" marB="0" anchor="ctr" horzOverflow="overflow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실습</a:t>
                      </a: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시연</a:t>
                      </a:r>
                      <a:endParaRPr lang="en-US" altLang="ko-KR" sz="1200" b="0" kern="1200" spc="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 b="0" kern="1200" spc="0" baseline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108000" marR="10800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740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5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CDE42-1AED-B971-AC69-43E5E512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F158993-B78C-1B9E-E4F5-E525C061DF96}"/>
              </a:ext>
            </a:extLst>
          </p:cNvPr>
          <p:cNvSpPr/>
          <p:nvPr/>
        </p:nvSpPr>
        <p:spPr>
          <a:xfrm>
            <a:off x="423988" y="933649"/>
            <a:ext cx="11348635" cy="1424779"/>
          </a:xfrm>
          <a:prstGeom prst="roundRect">
            <a:avLst>
              <a:gd name="adj" fmla="val 50000"/>
            </a:avLst>
          </a:prstGeom>
          <a:noFill/>
          <a:ln w="38100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sz="1400" kern="0">
              <a:solidFill>
                <a:srgbClr val="F1F3F8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6A7348-4062-2CFD-F0D6-8BF88CE7D3BA}"/>
              </a:ext>
            </a:extLst>
          </p:cNvPr>
          <p:cNvSpPr txBox="1"/>
          <p:nvPr/>
        </p:nvSpPr>
        <p:spPr>
          <a:xfrm>
            <a:off x="6172710" y="1143043"/>
            <a:ext cx="6543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>
                <a:solidFill>
                  <a:srgbClr val="8892AA"/>
                </a:solidFill>
                <a:ea typeface="나눔스퀘어 ExtraBold" panose="020B0600000101010101" pitchFamily="50" charset="-127"/>
              </a:rPr>
              <a:t>“ </a:t>
            </a:r>
            <a:endParaRPr lang="ko-KR" altLang="en-US" sz="6000">
              <a:solidFill>
                <a:srgbClr val="8892AA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6EAFB-1FC6-173D-3AE4-E080DA403F2B}"/>
              </a:ext>
            </a:extLst>
          </p:cNvPr>
          <p:cNvSpPr txBox="1"/>
          <p:nvPr/>
        </p:nvSpPr>
        <p:spPr>
          <a:xfrm>
            <a:off x="10441061" y="1097534"/>
            <a:ext cx="4411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>
                <a:solidFill>
                  <a:srgbClr val="8892AA"/>
                </a:solidFill>
                <a:ea typeface="나눔스퀘어 ExtraBold" panose="020B0600000101010101" pitchFamily="50" charset="-127"/>
              </a:rPr>
              <a:t>”</a:t>
            </a:r>
            <a:endParaRPr lang="ko-KR" altLang="en-US" sz="6000">
              <a:solidFill>
                <a:srgbClr val="8892AA"/>
              </a:solidFill>
              <a:ea typeface="나눔스퀘어 ExtraBold" panose="020B0600000101010101" pitchFamily="50" charset="-127"/>
            </a:endParaRPr>
          </a:p>
        </p:txBody>
      </p:sp>
      <p:sp>
        <p:nvSpPr>
          <p:cNvPr id="36" name="사각형: 둥근 모서리 43">
            <a:extLst>
              <a:ext uri="{FF2B5EF4-FFF2-40B4-BE49-F238E27FC236}">
                <a16:creationId xmlns:a16="http://schemas.microsoft.com/office/drawing/2014/main" id="{648B37CB-D339-77F5-7E8A-89E4D8CF5C7A}"/>
              </a:ext>
            </a:extLst>
          </p:cNvPr>
          <p:cNvSpPr/>
          <p:nvPr/>
        </p:nvSpPr>
        <p:spPr>
          <a:xfrm>
            <a:off x="420634" y="2885719"/>
            <a:ext cx="5485896" cy="984709"/>
          </a:xfrm>
          <a:prstGeom prst="roundRect">
            <a:avLst>
              <a:gd name="adj" fmla="val 5322"/>
            </a:avLst>
          </a:prstGeom>
          <a:solidFill>
            <a:srgbClr val="F1F3F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197" latinLnBrk="0">
              <a:defRPr/>
            </a:pPr>
            <a:endParaRPr lang="ko-KR" altLang="en-US" sz="1100" kern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37" name="사각형: 둥근 모서리 44">
            <a:extLst>
              <a:ext uri="{FF2B5EF4-FFF2-40B4-BE49-F238E27FC236}">
                <a16:creationId xmlns:a16="http://schemas.microsoft.com/office/drawing/2014/main" id="{0E764F45-7618-953E-214B-87FE4A43E8FE}"/>
              </a:ext>
            </a:extLst>
          </p:cNvPr>
          <p:cNvSpPr/>
          <p:nvPr/>
        </p:nvSpPr>
        <p:spPr>
          <a:xfrm>
            <a:off x="490008" y="2976103"/>
            <a:ext cx="5328000" cy="800002"/>
          </a:xfrm>
          <a:prstGeom prst="roundRect">
            <a:avLst>
              <a:gd name="adj" fmla="val 4063"/>
            </a:avLst>
          </a:prstGeom>
          <a:solidFill>
            <a:schemeClr val="bg1"/>
          </a:solidFill>
          <a:ln w="3175">
            <a:solidFill>
              <a:srgbClr val="B8BE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bIns="54000" rtlCol="0" anchor="ctr"/>
          <a:lstStyle/>
          <a:p>
            <a:pPr marL="108000" lvl="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現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템플릿 스튜디오 대표</a:t>
            </a:r>
          </a:p>
          <a:p>
            <a:pPr marL="108000" lvl="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現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멀티캠퍼스 정규 과정 강사</a:t>
            </a:r>
          </a:p>
        </p:txBody>
      </p:sp>
      <p:sp>
        <p:nvSpPr>
          <p:cNvPr id="40" name="사각형: 둥근 모서리 43">
            <a:extLst>
              <a:ext uri="{FF2B5EF4-FFF2-40B4-BE49-F238E27FC236}">
                <a16:creationId xmlns:a16="http://schemas.microsoft.com/office/drawing/2014/main" id="{29886357-A92A-56D9-C849-957ED6D68D13}"/>
              </a:ext>
            </a:extLst>
          </p:cNvPr>
          <p:cNvSpPr/>
          <p:nvPr/>
        </p:nvSpPr>
        <p:spPr>
          <a:xfrm>
            <a:off x="6286727" y="2877190"/>
            <a:ext cx="5485896" cy="3603111"/>
          </a:xfrm>
          <a:prstGeom prst="roundRect">
            <a:avLst>
              <a:gd name="adj" fmla="val 1723"/>
            </a:avLst>
          </a:prstGeom>
          <a:solidFill>
            <a:srgbClr val="F1F3F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197" latinLnBrk="0">
              <a:defRPr/>
            </a:pPr>
            <a:endParaRPr lang="ko-KR" altLang="en-US" sz="1100" kern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41" name="사각형: 둥근 모서리 44">
            <a:extLst>
              <a:ext uri="{FF2B5EF4-FFF2-40B4-BE49-F238E27FC236}">
                <a16:creationId xmlns:a16="http://schemas.microsoft.com/office/drawing/2014/main" id="{1604CF19-C8A3-3A98-0619-3C558BB7664C}"/>
              </a:ext>
            </a:extLst>
          </p:cNvPr>
          <p:cNvSpPr/>
          <p:nvPr/>
        </p:nvSpPr>
        <p:spPr>
          <a:xfrm>
            <a:off x="6356101" y="2949289"/>
            <a:ext cx="5328000" cy="3451511"/>
          </a:xfrm>
          <a:prstGeom prst="roundRect">
            <a:avLst>
              <a:gd name="adj" fmla="val 2746"/>
            </a:avLst>
          </a:prstGeom>
          <a:solidFill>
            <a:schemeClr val="bg1"/>
          </a:solidFill>
          <a:ln w="3175">
            <a:solidFill>
              <a:srgbClr val="B8BE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54000" rIns="91440" bIns="54000" rtlCol="0" anchor="ctr"/>
          <a:lstStyle/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삼성전자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생성형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AI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를 활용한 문서 작성 실무 능력 향상 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우리은행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전입 직원 대상 핵심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AI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리터러시 과정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MG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새마을금고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생성형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AI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를 활용한 문서 작성 실무 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주택도시보증공사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(HUG)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AI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를 활용한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SW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개발 생산성 향상 및 문서 작성 실무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한국자산관리공사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캠코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생성형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AI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리터러시 강의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(AX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과정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)</a:t>
            </a: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효성그룹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그룹사 핵심리더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GMC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교육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(AI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활용 능력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) </a:t>
            </a: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동원그룹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뉴커머 대상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AI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실습 교육 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교원그룹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파트장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Gen-AI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실전 활용 과정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DL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케미칼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AI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를 활용한 실무 문서 작성 실무  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호반건설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부장급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AI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실습 강의</a:t>
            </a: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골프존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AI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를 활용한 문서 작성 실무 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삼천리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기획부터 슬라이드 작성까지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,AI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기반 파워포인트 문서 혁신</a:t>
            </a: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에릭슨코리아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AI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를 활용한 실무 문서 작성 및 데이터 가공  </a:t>
            </a: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세스코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ChatGPT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를 활용한 생산성 향상 교육 </a:t>
            </a: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유진기업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ChatGPT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활용 비즈니스 실무 교육</a:t>
            </a:r>
            <a:endParaRPr lang="ko-KR" altLang="en-US" sz="1050" spc="-50" dirty="0">
              <a:gradFill>
                <a:gsLst>
                  <a:gs pos="0">
                    <a:srgbClr val="000000"/>
                  </a:gs>
                  <a:gs pos="100000">
                    <a:srgbClr val="000000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/>
              <a:cs typeface="맑은 고딕 Semilight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A55A1EE-659B-DAAF-B011-672AFF62DA25}"/>
              </a:ext>
            </a:extLst>
          </p:cNvPr>
          <p:cNvSpPr/>
          <p:nvPr/>
        </p:nvSpPr>
        <p:spPr>
          <a:xfrm>
            <a:off x="420634" y="4386480"/>
            <a:ext cx="5485896" cy="518629"/>
          </a:xfrm>
          <a:prstGeom prst="roundRect">
            <a:avLst>
              <a:gd name="adj" fmla="val 5322"/>
            </a:avLst>
          </a:prstGeom>
          <a:solidFill>
            <a:srgbClr val="F1F3F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197" latinLnBrk="0">
              <a:defRPr/>
            </a:pPr>
            <a:endParaRPr lang="ko-KR" altLang="en-US" sz="1100" kern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E49BBE1-3FC9-AE1E-9164-EC47ED1E035E}"/>
              </a:ext>
            </a:extLst>
          </p:cNvPr>
          <p:cNvSpPr/>
          <p:nvPr/>
        </p:nvSpPr>
        <p:spPr>
          <a:xfrm>
            <a:off x="490008" y="4464647"/>
            <a:ext cx="5328000" cy="328494"/>
          </a:xfrm>
          <a:prstGeom prst="roundRect">
            <a:avLst>
              <a:gd name="adj" fmla="val 4592"/>
            </a:avLst>
          </a:prstGeom>
          <a:solidFill>
            <a:schemeClr val="bg1"/>
          </a:solidFill>
          <a:ln w="3175">
            <a:solidFill>
              <a:srgbClr val="B8BE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bIns="54000" rtlCol="0" anchor="ctr"/>
          <a:lstStyle/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칭찬받는 기획서는 알고리즘이 다르다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0DBFFF-6DD5-C6F4-5BAB-9C4BC69D1CFD}"/>
              </a:ext>
            </a:extLst>
          </p:cNvPr>
          <p:cNvSpPr/>
          <p:nvPr/>
        </p:nvSpPr>
        <p:spPr>
          <a:xfrm>
            <a:off x="420634" y="5459500"/>
            <a:ext cx="5485896" cy="820895"/>
          </a:xfrm>
          <a:prstGeom prst="roundRect">
            <a:avLst>
              <a:gd name="adj" fmla="val 5322"/>
            </a:avLst>
          </a:prstGeom>
          <a:solidFill>
            <a:srgbClr val="F1F3F8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197" latinLnBrk="0">
              <a:defRPr/>
            </a:pPr>
            <a:endParaRPr lang="ko-KR" altLang="en-US" sz="1100" kern="0">
              <a:ln>
                <a:solidFill>
                  <a:prstClr val="white">
                    <a:alpha val="0"/>
                  </a:prstClr>
                </a:solidFill>
              </a:ln>
              <a:gradFill>
                <a:gsLst>
                  <a:gs pos="0">
                    <a:prstClr val="black">
                      <a:lumMod val="85000"/>
                      <a:lumOff val="15000"/>
                    </a:prstClr>
                  </a:gs>
                  <a:gs pos="100000">
                    <a:prstClr val="black">
                      <a:lumMod val="85000"/>
                      <a:lumOff val="15000"/>
                    </a:prstClr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EA275C4-9B08-BBD7-530F-3A13A051C5FE}"/>
              </a:ext>
            </a:extLst>
          </p:cNvPr>
          <p:cNvSpPr/>
          <p:nvPr/>
        </p:nvSpPr>
        <p:spPr>
          <a:xfrm>
            <a:off x="490008" y="5519006"/>
            <a:ext cx="5328000" cy="673728"/>
          </a:xfrm>
          <a:prstGeom prst="roundRect">
            <a:avLst>
              <a:gd name="adj" fmla="val 4592"/>
            </a:avLst>
          </a:prstGeom>
          <a:solidFill>
            <a:schemeClr val="bg1"/>
          </a:solidFill>
          <a:ln w="3175">
            <a:solidFill>
              <a:srgbClr val="B8BE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000" bIns="54000" rtlCol="0" anchor="ctr"/>
          <a:lstStyle/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퍼블리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시작이 반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!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보고서 시작의 부담을 줄여주는 챗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GPT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활용법</a:t>
            </a:r>
          </a:p>
          <a:p>
            <a:pPr marL="108000" indent="-108000">
              <a:spcBef>
                <a:spcPts val="200"/>
              </a:spcBef>
              <a:spcAft>
                <a:spcPts val="200"/>
              </a:spcAft>
              <a:buClr>
                <a:srgbClr val="8697B4"/>
              </a:buClr>
              <a:buSzPct val="90000"/>
              <a:buFont typeface="Arial" panose="020B0604020202020204" pitchFamily="34" charset="0"/>
              <a:buChar char="•"/>
              <a:defRPr/>
            </a:pP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퍼블리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그 파일 어딨더라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?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파일 찾기가 쉬워지는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챗 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GPT X 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엑셀 매크로</a:t>
            </a:r>
            <a:r>
              <a:rPr lang="en-US" altLang="ko-KR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050" spc="-5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맑은 고딕 Semilight" panose="020B0502040204020203" pitchFamily="50" charset="-127"/>
              </a:rPr>
              <a:t> 활용법 외 다수</a:t>
            </a:r>
            <a:endParaRPr lang="en-US" altLang="ko-KR" sz="1050" spc="-5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C2E0F7-12E6-B3B5-6D02-DF05A256DB9D}"/>
              </a:ext>
            </a:extLst>
          </p:cNvPr>
          <p:cNvSpPr txBox="1"/>
          <p:nvPr/>
        </p:nvSpPr>
        <p:spPr>
          <a:xfrm>
            <a:off x="6522023" y="1283018"/>
            <a:ext cx="4310818" cy="914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120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12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생성형 </a:t>
            </a:r>
            <a:r>
              <a:rPr lang="en-US" altLang="ko-KR" sz="12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AI </a:t>
            </a:r>
            <a:r>
              <a:rPr lang="ko-KR" altLang="en-US" sz="1200" b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툴을 활용한 비즈니스 실무 활용 교육</a:t>
            </a:r>
            <a:endParaRPr lang="en-US" altLang="ko-KR" sz="1200" b="1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시각화 및 자동화가 가능한 생성형 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활용한 효율적 의사소통 강화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통한 데이터 분석을 통한 이슈 도출 및 해결 능력 강화</a:t>
            </a:r>
            <a:endParaRPr lang="en-US" altLang="ko-KR" sz="90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285750" indent="-285750">
              <a:lnSpc>
                <a:spcPts val="1300"/>
              </a:lnSpc>
              <a:buFont typeface="Wingdings" panose="05000000000000000000" pitchFamily="2" charset="2"/>
              <a:buChar char="ü"/>
            </a:pP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생성형 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(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이미지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문서작성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엑셀 등</a:t>
            </a:r>
            <a:r>
              <a:rPr lang="en-US" altLang="ko-KR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90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활용한 업무 능력 향상 가능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9D50C62-5824-E4DC-67A4-474FB7FE26BF}"/>
              </a:ext>
            </a:extLst>
          </p:cNvPr>
          <p:cNvSpPr/>
          <p:nvPr/>
        </p:nvSpPr>
        <p:spPr>
          <a:xfrm>
            <a:off x="2700523" y="1432982"/>
            <a:ext cx="2211503" cy="584775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marL="134935" indent="-134935" latinLnBrk="0">
              <a:buSzPct val="85000"/>
              <a:defRPr/>
            </a:pPr>
            <a:r>
              <a:rPr lang="ko-KR" altLang="en-US" sz="3200" b="1" kern="0" spc="30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itchFamily="34" charset="0"/>
              </a:rPr>
              <a:t>임코치 </a:t>
            </a:r>
            <a:r>
              <a:rPr lang="ko-KR" altLang="en-US" sz="2000" spc="30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itchFamily="34" charset="0"/>
              </a:rPr>
              <a:t>강사</a:t>
            </a:r>
            <a:endParaRPr lang="ko-KR" altLang="en-US" sz="2000" kern="0" spc="30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 pitchFamily="34" charset="0"/>
            </a:endParaRPr>
          </a:p>
        </p:txBody>
      </p:sp>
      <p:sp>
        <p:nvSpPr>
          <p:cNvPr id="3" name="모서리가 둥근 직사각형 10">
            <a:extLst>
              <a:ext uri="{FF2B5EF4-FFF2-40B4-BE49-F238E27FC236}">
                <a16:creationId xmlns:a16="http://schemas.microsoft.com/office/drawing/2014/main" id="{74405E1C-821D-7556-75F4-AFA319EBE964}"/>
              </a:ext>
            </a:extLst>
          </p:cNvPr>
          <p:cNvSpPr/>
          <p:nvPr/>
        </p:nvSpPr>
        <p:spPr>
          <a:xfrm>
            <a:off x="490008" y="2522586"/>
            <a:ext cx="1153427" cy="248591"/>
          </a:xfrm>
          <a:custGeom>
            <a:avLst/>
            <a:gdLst/>
            <a:ahLst/>
            <a:cxnLst/>
            <a:rect l="l" t="t" r="r" b="b"/>
            <a:pathLst>
              <a:path w="969101" h="241335">
                <a:moveTo>
                  <a:pt x="121246" y="0"/>
                </a:moveTo>
                <a:lnTo>
                  <a:pt x="782511" y="0"/>
                </a:lnTo>
                <a:cubicBezTo>
                  <a:pt x="814668" y="0"/>
                  <a:pt x="845005" y="13691"/>
                  <a:pt x="868245" y="35428"/>
                </a:cubicBezTo>
                <a:cubicBezTo>
                  <a:pt x="891484" y="57164"/>
                  <a:pt x="905217" y="97304"/>
                  <a:pt x="921947" y="130420"/>
                </a:cubicBezTo>
                <a:cubicBezTo>
                  <a:pt x="938677" y="163536"/>
                  <a:pt x="973565" y="241256"/>
                  <a:pt x="968628" y="234127"/>
                </a:cubicBezTo>
                <a:lnTo>
                  <a:pt x="957777" y="241335"/>
                </a:lnTo>
                <a:lnTo>
                  <a:pt x="0" y="241335"/>
                </a:lnTo>
                <a:lnTo>
                  <a:pt x="0" y="120957"/>
                </a:lnTo>
                <a:lnTo>
                  <a:pt x="0" y="53908"/>
                </a:lnTo>
                <a:cubicBezTo>
                  <a:pt x="0" y="24194"/>
                  <a:pt x="24088" y="106"/>
                  <a:pt x="53802" y="106"/>
                </a:cubicBezTo>
                <a:lnTo>
                  <a:pt x="120712" y="106"/>
                </a:lnTo>
                <a:cubicBezTo>
                  <a:pt x="120890" y="0"/>
                  <a:pt x="121068" y="0"/>
                  <a:pt x="121246" y="0"/>
                </a:cubicBezTo>
                <a:close/>
              </a:path>
            </a:pathLst>
          </a:custGeom>
          <a:solidFill>
            <a:srgbClr val="5A658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100" b="1" kern="0">
                <a:ln cap="sq">
                  <a:noFill/>
                  <a:miter lim="800000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경력 </a:t>
            </a:r>
            <a:endParaRPr lang="ko-KR" altLang="en-US" sz="1100" b="1" kern="0" dirty="0">
              <a:ln cap="sq">
                <a:noFill/>
                <a:miter lim="800000"/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4" name="자유형 16">
            <a:extLst>
              <a:ext uri="{FF2B5EF4-FFF2-40B4-BE49-F238E27FC236}">
                <a16:creationId xmlns:a16="http://schemas.microsoft.com/office/drawing/2014/main" id="{1A6FABAF-33A4-8755-1BD7-462598DF1444}"/>
              </a:ext>
            </a:extLst>
          </p:cNvPr>
          <p:cNvSpPr/>
          <p:nvPr/>
        </p:nvSpPr>
        <p:spPr>
          <a:xfrm>
            <a:off x="434516" y="2765452"/>
            <a:ext cx="5458933" cy="45719"/>
          </a:xfrm>
          <a:custGeom>
            <a:avLst/>
            <a:gdLst>
              <a:gd name="connsiteX0" fmla="*/ 0 w 4230914"/>
              <a:gd name="connsiteY0" fmla="*/ 0 h 0"/>
              <a:gd name="connsiteX1" fmla="*/ 4230914 w 42309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0914">
                <a:moveTo>
                  <a:pt x="0" y="0"/>
                </a:moveTo>
                <a:lnTo>
                  <a:pt x="4230914" y="0"/>
                </a:lnTo>
              </a:path>
            </a:pathLst>
          </a:custGeom>
          <a:noFill/>
          <a:ln w="22225" cap="rnd" cmpd="sng" algn="ctr">
            <a:solidFill>
              <a:srgbClr val="5A658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sz="1600" kern="0" spc="-1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AAD7EDDD-2AB9-E81B-533F-7056CCD7E4BC}"/>
              </a:ext>
            </a:extLst>
          </p:cNvPr>
          <p:cNvSpPr/>
          <p:nvPr/>
        </p:nvSpPr>
        <p:spPr>
          <a:xfrm>
            <a:off x="501927" y="4023998"/>
            <a:ext cx="1153427" cy="248591"/>
          </a:xfrm>
          <a:custGeom>
            <a:avLst/>
            <a:gdLst/>
            <a:ahLst/>
            <a:cxnLst/>
            <a:rect l="l" t="t" r="r" b="b"/>
            <a:pathLst>
              <a:path w="969101" h="241335">
                <a:moveTo>
                  <a:pt x="121246" y="0"/>
                </a:moveTo>
                <a:lnTo>
                  <a:pt x="782511" y="0"/>
                </a:lnTo>
                <a:cubicBezTo>
                  <a:pt x="814668" y="0"/>
                  <a:pt x="845005" y="13691"/>
                  <a:pt x="868245" y="35428"/>
                </a:cubicBezTo>
                <a:cubicBezTo>
                  <a:pt x="891484" y="57164"/>
                  <a:pt x="905217" y="97304"/>
                  <a:pt x="921947" y="130420"/>
                </a:cubicBezTo>
                <a:cubicBezTo>
                  <a:pt x="938677" y="163536"/>
                  <a:pt x="973565" y="241256"/>
                  <a:pt x="968628" y="234127"/>
                </a:cubicBezTo>
                <a:lnTo>
                  <a:pt x="957777" y="241335"/>
                </a:lnTo>
                <a:lnTo>
                  <a:pt x="0" y="241335"/>
                </a:lnTo>
                <a:lnTo>
                  <a:pt x="0" y="120957"/>
                </a:lnTo>
                <a:lnTo>
                  <a:pt x="0" y="53908"/>
                </a:lnTo>
                <a:cubicBezTo>
                  <a:pt x="0" y="24194"/>
                  <a:pt x="24088" y="106"/>
                  <a:pt x="53802" y="106"/>
                </a:cubicBezTo>
                <a:lnTo>
                  <a:pt x="120712" y="106"/>
                </a:lnTo>
                <a:cubicBezTo>
                  <a:pt x="120890" y="0"/>
                  <a:pt x="121068" y="0"/>
                  <a:pt x="121246" y="0"/>
                </a:cubicBezTo>
                <a:close/>
              </a:path>
            </a:pathLst>
          </a:custGeom>
          <a:solidFill>
            <a:srgbClr val="5A658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100" b="1" kern="0">
                <a:ln cap="sq">
                  <a:noFill/>
                  <a:miter lim="800000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저서 </a:t>
            </a:r>
            <a:endParaRPr lang="ko-KR" altLang="en-US" sz="1100" b="1" kern="0" dirty="0">
              <a:ln cap="sq">
                <a:noFill/>
                <a:miter lim="800000"/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0" name="자유형 16">
            <a:extLst>
              <a:ext uri="{FF2B5EF4-FFF2-40B4-BE49-F238E27FC236}">
                <a16:creationId xmlns:a16="http://schemas.microsoft.com/office/drawing/2014/main" id="{95497286-7857-AF90-466E-8A6152273C39}"/>
              </a:ext>
            </a:extLst>
          </p:cNvPr>
          <p:cNvSpPr/>
          <p:nvPr/>
        </p:nvSpPr>
        <p:spPr>
          <a:xfrm>
            <a:off x="446435" y="4266864"/>
            <a:ext cx="5458933" cy="45719"/>
          </a:xfrm>
          <a:custGeom>
            <a:avLst/>
            <a:gdLst>
              <a:gd name="connsiteX0" fmla="*/ 0 w 4230914"/>
              <a:gd name="connsiteY0" fmla="*/ 0 h 0"/>
              <a:gd name="connsiteX1" fmla="*/ 4230914 w 42309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0914">
                <a:moveTo>
                  <a:pt x="0" y="0"/>
                </a:moveTo>
                <a:lnTo>
                  <a:pt x="4230914" y="0"/>
                </a:lnTo>
              </a:path>
            </a:pathLst>
          </a:custGeom>
          <a:noFill/>
          <a:ln w="22225" cap="rnd" cmpd="sng" algn="ctr">
            <a:solidFill>
              <a:srgbClr val="5A658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sz="1600" kern="0" spc="-1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0C7B35C0-F7FA-B5B8-B4DC-EAF0BD2DAF58}"/>
              </a:ext>
            </a:extLst>
          </p:cNvPr>
          <p:cNvSpPr/>
          <p:nvPr/>
        </p:nvSpPr>
        <p:spPr>
          <a:xfrm>
            <a:off x="501927" y="5150154"/>
            <a:ext cx="1153427" cy="248591"/>
          </a:xfrm>
          <a:custGeom>
            <a:avLst/>
            <a:gdLst/>
            <a:ahLst/>
            <a:cxnLst/>
            <a:rect l="l" t="t" r="r" b="b"/>
            <a:pathLst>
              <a:path w="969101" h="241335">
                <a:moveTo>
                  <a:pt x="121246" y="0"/>
                </a:moveTo>
                <a:lnTo>
                  <a:pt x="782511" y="0"/>
                </a:lnTo>
                <a:cubicBezTo>
                  <a:pt x="814668" y="0"/>
                  <a:pt x="845005" y="13691"/>
                  <a:pt x="868245" y="35428"/>
                </a:cubicBezTo>
                <a:cubicBezTo>
                  <a:pt x="891484" y="57164"/>
                  <a:pt x="905217" y="97304"/>
                  <a:pt x="921947" y="130420"/>
                </a:cubicBezTo>
                <a:cubicBezTo>
                  <a:pt x="938677" y="163536"/>
                  <a:pt x="973565" y="241256"/>
                  <a:pt x="968628" y="234127"/>
                </a:cubicBezTo>
                <a:lnTo>
                  <a:pt x="957777" y="241335"/>
                </a:lnTo>
                <a:lnTo>
                  <a:pt x="0" y="241335"/>
                </a:lnTo>
                <a:lnTo>
                  <a:pt x="0" y="120957"/>
                </a:lnTo>
                <a:lnTo>
                  <a:pt x="0" y="53908"/>
                </a:lnTo>
                <a:cubicBezTo>
                  <a:pt x="0" y="24194"/>
                  <a:pt x="24088" y="106"/>
                  <a:pt x="53802" y="106"/>
                </a:cubicBezTo>
                <a:lnTo>
                  <a:pt x="120712" y="106"/>
                </a:lnTo>
                <a:cubicBezTo>
                  <a:pt x="120890" y="0"/>
                  <a:pt x="121068" y="0"/>
                  <a:pt x="121246" y="0"/>
                </a:cubicBezTo>
                <a:close/>
              </a:path>
            </a:pathLst>
          </a:custGeom>
          <a:solidFill>
            <a:srgbClr val="5A658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100" b="1" kern="0">
                <a:ln cap="sq">
                  <a:noFill/>
                  <a:miter lim="800000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온라인 아티클</a:t>
            </a:r>
            <a:endParaRPr lang="ko-KR" altLang="en-US" sz="1100" b="1" kern="0" dirty="0">
              <a:ln cap="sq">
                <a:noFill/>
                <a:miter lim="800000"/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15" name="자유형 16">
            <a:extLst>
              <a:ext uri="{FF2B5EF4-FFF2-40B4-BE49-F238E27FC236}">
                <a16:creationId xmlns:a16="http://schemas.microsoft.com/office/drawing/2014/main" id="{9474DCBC-30B4-8FF4-54FA-8F99F8706FCE}"/>
              </a:ext>
            </a:extLst>
          </p:cNvPr>
          <p:cNvSpPr/>
          <p:nvPr/>
        </p:nvSpPr>
        <p:spPr>
          <a:xfrm>
            <a:off x="446435" y="5393020"/>
            <a:ext cx="5458933" cy="45719"/>
          </a:xfrm>
          <a:custGeom>
            <a:avLst/>
            <a:gdLst>
              <a:gd name="connsiteX0" fmla="*/ 0 w 4230914"/>
              <a:gd name="connsiteY0" fmla="*/ 0 h 0"/>
              <a:gd name="connsiteX1" fmla="*/ 4230914 w 42309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0914">
                <a:moveTo>
                  <a:pt x="0" y="0"/>
                </a:moveTo>
                <a:lnTo>
                  <a:pt x="4230914" y="0"/>
                </a:lnTo>
              </a:path>
            </a:pathLst>
          </a:custGeom>
          <a:noFill/>
          <a:ln w="22225" cap="rnd" cmpd="sng" algn="ctr">
            <a:solidFill>
              <a:srgbClr val="5A658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sz="1600" kern="0" spc="-1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모서리가 둥근 직사각형 10">
            <a:extLst>
              <a:ext uri="{FF2B5EF4-FFF2-40B4-BE49-F238E27FC236}">
                <a16:creationId xmlns:a16="http://schemas.microsoft.com/office/drawing/2014/main" id="{E935913A-E3F9-CC11-6526-C2E02ED96E7A}"/>
              </a:ext>
            </a:extLst>
          </p:cNvPr>
          <p:cNvSpPr/>
          <p:nvPr/>
        </p:nvSpPr>
        <p:spPr>
          <a:xfrm>
            <a:off x="6349272" y="2509104"/>
            <a:ext cx="1153427" cy="248591"/>
          </a:xfrm>
          <a:custGeom>
            <a:avLst/>
            <a:gdLst/>
            <a:ahLst/>
            <a:cxnLst/>
            <a:rect l="l" t="t" r="r" b="b"/>
            <a:pathLst>
              <a:path w="969101" h="241335">
                <a:moveTo>
                  <a:pt x="121246" y="0"/>
                </a:moveTo>
                <a:lnTo>
                  <a:pt x="782511" y="0"/>
                </a:lnTo>
                <a:cubicBezTo>
                  <a:pt x="814668" y="0"/>
                  <a:pt x="845005" y="13691"/>
                  <a:pt x="868245" y="35428"/>
                </a:cubicBezTo>
                <a:cubicBezTo>
                  <a:pt x="891484" y="57164"/>
                  <a:pt x="905217" y="97304"/>
                  <a:pt x="921947" y="130420"/>
                </a:cubicBezTo>
                <a:cubicBezTo>
                  <a:pt x="938677" y="163536"/>
                  <a:pt x="973565" y="241256"/>
                  <a:pt x="968628" y="234127"/>
                </a:cubicBezTo>
                <a:lnTo>
                  <a:pt x="957777" y="241335"/>
                </a:lnTo>
                <a:lnTo>
                  <a:pt x="0" y="241335"/>
                </a:lnTo>
                <a:lnTo>
                  <a:pt x="0" y="120957"/>
                </a:lnTo>
                <a:lnTo>
                  <a:pt x="0" y="53908"/>
                </a:lnTo>
                <a:cubicBezTo>
                  <a:pt x="0" y="24194"/>
                  <a:pt x="24088" y="106"/>
                  <a:pt x="53802" y="106"/>
                </a:cubicBezTo>
                <a:lnTo>
                  <a:pt x="120712" y="106"/>
                </a:lnTo>
                <a:cubicBezTo>
                  <a:pt x="120890" y="0"/>
                  <a:pt x="121068" y="0"/>
                  <a:pt x="121246" y="0"/>
                </a:cubicBezTo>
                <a:close/>
              </a:path>
            </a:pathLst>
          </a:custGeom>
          <a:solidFill>
            <a:srgbClr val="5A658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100" b="1" kern="0">
                <a:ln cap="sq">
                  <a:noFill/>
                  <a:miter lim="800000"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강의 이력</a:t>
            </a:r>
            <a:endParaRPr lang="ko-KR" altLang="en-US" sz="1100" b="1" kern="0" dirty="0">
              <a:ln cap="sq">
                <a:noFill/>
                <a:miter lim="800000"/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0" name="자유형 16">
            <a:extLst>
              <a:ext uri="{FF2B5EF4-FFF2-40B4-BE49-F238E27FC236}">
                <a16:creationId xmlns:a16="http://schemas.microsoft.com/office/drawing/2014/main" id="{23647C59-6B91-3552-6A67-FC314012AF23}"/>
              </a:ext>
            </a:extLst>
          </p:cNvPr>
          <p:cNvSpPr/>
          <p:nvPr/>
        </p:nvSpPr>
        <p:spPr>
          <a:xfrm>
            <a:off x="6293780" y="2751970"/>
            <a:ext cx="5458933" cy="45719"/>
          </a:xfrm>
          <a:custGeom>
            <a:avLst/>
            <a:gdLst>
              <a:gd name="connsiteX0" fmla="*/ 0 w 4230914"/>
              <a:gd name="connsiteY0" fmla="*/ 0 h 0"/>
              <a:gd name="connsiteX1" fmla="*/ 4230914 w 423091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30914">
                <a:moveTo>
                  <a:pt x="0" y="0"/>
                </a:moveTo>
                <a:lnTo>
                  <a:pt x="4230914" y="0"/>
                </a:lnTo>
              </a:path>
            </a:pathLst>
          </a:custGeom>
          <a:noFill/>
          <a:ln w="22225" cap="rnd" cmpd="sng" algn="ctr">
            <a:solidFill>
              <a:srgbClr val="5A6580"/>
            </a:solidFill>
            <a:prstDash val="solid"/>
          </a:ln>
          <a:effectLst/>
        </p:spPr>
        <p:txBody>
          <a:bodyPr rtlCol="0" anchor="ctr"/>
          <a:lstStyle/>
          <a:p>
            <a:pPr algn="ctr" latinLnBrk="0">
              <a:defRPr/>
            </a:pPr>
            <a:endParaRPr lang="ko-KR" altLang="en-US" sz="1600" kern="0" spc="-100">
              <a:solidFill>
                <a:prstClr val="black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텍스트 개체 틀 1">
            <a:extLst>
              <a:ext uri="{FF2B5EF4-FFF2-40B4-BE49-F238E27FC236}">
                <a16:creationId xmlns:a16="http://schemas.microsoft.com/office/drawing/2014/main" id="{01C16ED4-4DC6-8C99-21CF-6A5372459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863" y="211854"/>
            <a:ext cx="10523537" cy="514350"/>
          </a:xfrm>
        </p:spPr>
        <p:txBody>
          <a:bodyPr/>
          <a:lstStyle/>
          <a:p>
            <a:r>
              <a:rPr lang="en-US" altLang="ko-KR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3. </a:t>
            </a:r>
            <a:r>
              <a:rPr lang="ko-KR" altLang="en-US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강사 프로필</a:t>
            </a:r>
            <a:endParaRPr lang="en-US" altLang="ko-KR" sz="2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FCD53F8A-8B53-93C6-90F1-37B37FB0E818}"/>
              </a:ext>
            </a:extLst>
          </p:cNvPr>
          <p:cNvSpPr/>
          <p:nvPr/>
        </p:nvSpPr>
        <p:spPr>
          <a:xfrm>
            <a:off x="476192" y="967362"/>
            <a:ext cx="1358534" cy="135853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 cap="flat">
            <a:solidFill>
              <a:schemeClr val="bg1"/>
            </a:solidFill>
            <a:prstDash val="solid"/>
            <a:miter/>
          </a:ln>
          <a:effectLst/>
        </p:spPr>
        <p:txBody>
          <a:bodyPr wrap="square" lIns="0" tIns="0" rIns="0" bIns="0" anchor="ctr" anchorCtr="0">
            <a:noAutofit/>
          </a:bodyPr>
          <a:lstStyle/>
          <a:p>
            <a:pPr defTabSz="914395" latinLnBrk="1">
              <a:lnSpc>
                <a:spcPct val="114000"/>
              </a:lnSpc>
            </a:pPr>
            <a:endParaRPr lang="ko-KR" altLang="en-US" sz="14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latin typeface="나눔스퀘어 Bold" panose="020B0600000101010101" pitchFamily="50" charset="-127"/>
              <a:ea typeface="나눔스퀘어 Bold" panose="020B0600000101010101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" name="그림 5" descr="터틀넥을 입고 안경을 낀 남자">
            <a:extLst>
              <a:ext uri="{FF2B5EF4-FFF2-40B4-BE49-F238E27FC236}">
                <a16:creationId xmlns:a16="http://schemas.microsoft.com/office/drawing/2014/main" id="{BCAB6C56-5E65-D402-C848-23072E766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2070" b="12070"/>
          <a:stretch/>
        </p:blipFill>
        <p:spPr>
          <a:xfrm>
            <a:off x="545678" y="1040332"/>
            <a:ext cx="1200312" cy="1225230"/>
          </a:xfrm>
          <a:prstGeom prst="flowChartConnector">
            <a:avLst/>
          </a:prstGeom>
          <a:ln w="28575"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44831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sk하이닉스">
      <a:dk1>
        <a:sysClr val="windowText" lastClr="000000"/>
      </a:dk1>
      <a:lt1>
        <a:sysClr val="window" lastClr="FFFFFF"/>
      </a:lt1>
      <a:dk2>
        <a:srgbClr val="F65616"/>
      </a:dk2>
      <a:lt2>
        <a:srgbClr val="E31837"/>
      </a:lt2>
      <a:accent1>
        <a:srgbClr val="F58025"/>
      </a:accent1>
      <a:accent2>
        <a:srgbClr val="009EDB"/>
      </a:accent2>
      <a:accent3>
        <a:srgbClr val="969696"/>
      </a:accent3>
      <a:accent4>
        <a:srgbClr val="000000"/>
      </a:accent4>
      <a:accent5>
        <a:srgbClr val="16B5EE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11628</TotalTime>
  <Words>457</Words>
  <Application>Microsoft Office PowerPoint</Application>
  <PresentationFormat>와이드스크린</PresentationFormat>
  <Paragraphs>90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나눔스퀘어</vt:lpstr>
      <vt:lpstr>나눔스퀘어 Bold</vt:lpstr>
      <vt:lpstr>나눔스퀘어 ExtraBold</vt:lpstr>
      <vt:lpstr>나눔스퀘어 Light</vt:lpstr>
      <vt:lpstr>나눔스퀘어 네오 ExtraBold</vt:lpstr>
      <vt:lpstr>맑은 고딕</vt:lpstr>
      <vt:lpstr>삼성긴고딕 Regular</vt:lpstr>
      <vt:lpstr>Arial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AID DC 02</dc:creator>
  <cp:lastModifiedBy>MASTER OFFICE</cp:lastModifiedBy>
  <cp:revision>1318</cp:revision>
  <dcterms:created xsi:type="dcterms:W3CDTF">2021-04-30T03:27:50Z</dcterms:created>
  <dcterms:modified xsi:type="dcterms:W3CDTF">2026-03-08T14:03:10Z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